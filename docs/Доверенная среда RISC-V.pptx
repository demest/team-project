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omments/modernComment_116_BD9A236F.xml" ContentType="application/vnd.ms-powerpoint.comments+xml"/>
  <Override PartName="/ppt/notesSlides/notesSlide1.xml" ContentType="application/vnd.openxmlformats-officedocument.presentationml.notesSlide+xml"/>
  <Override PartName="/ppt/comments/modernComment_104_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1D_19BC89B4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5" r:id="rId2"/>
    <p:sldId id="280" r:id="rId3"/>
    <p:sldId id="281" r:id="rId4"/>
    <p:sldId id="278" r:id="rId5"/>
    <p:sldId id="260" r:id="rId6"/>
    <p:sldId id="286" r:id="rId7"/>
    <p:sldId id="272" r:id="rId8"/>
    <p:sldId id="285" r:id="rId9"/>
    <p:sldId id="268" r:id="rId10"/>
    <p:sldId id="271" r:id="rId11"/>
    <p:sldId id="274" r:id="rId12"/>
    <p:sldId id="284" r:id="rId13"/>
    <p:sldId id="28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A99A77-D9FD-DE99-8789-44B4103718EA}" name="Даниил Смолин" initials="ДС" userId="4a7934cc9119e21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DF3"/>
    <a:srgbClr val="FF7B72"/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22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1D_19BC89B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12EB00E-2AB5-4097-8205-23744CE82386}" authorId="{4AA99A77-D9FD-DE99-8789-44B4103718EA}" created="2025-12-19T13:34:41.43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31786420" sldId="285"/>
      <ac:spMk id="2" creationId="{C240B25D-C350-EC0B-E48F-93DA6C45CC8A}"/>
    </ac:deMkLst>
    <p188:txBody>
      <a:bodyPr/>
      <a:lstStyle/>
      <a:p>
        <a:r>
          <a:rPr lang="ru-RU"/>
          <a:t>ISA - instrucion set architure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AAE26A-15C9-4AD2-8EF8-3958510529A6}" authorId="{4AA99A77-D9FD-DE99-8789-44B4103718EA}" created="2025-12-18T14:23:58.134">
    <pc:sldMkLst xmlns:pc="http://schemas.microsoft.com/office/powerpoint/2013/main/command">
      <pc:docMk/>
      <pc:sldMk cId="0" sldId="260"/>
    </pc:sldMkLst>
    <p188:txBody>
      <a:bodyPr/>
      <a:lstStyle/>
      <a:p>
        <a:r>
          <a:rPr lang="ru-RU"/>
          <a:t>Наш образ состоит из конкатенации hex0 нагрузки и boot</a:t>
        </a:r>
      </a:p>
    </p188:txBody>
  </p188:cm>
</p188:cmLst>
</file>

<file path=ppt/comments/modernComment_116_BD9A236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2A7794-C491-4A10-8272-CEBE44FB3240}" authorId="{4AA99A77-D9FD-DE99-8789-44B4103718EA}" created="2025-12-18T14:32:33.860">
    <pc:sldMkLst xmlns:pc="http://schemas.microsoft.com/office/powerpoint/2013/main/command">
      <pc:docMk/>
      <pc:sldMk cId="3180995439" sldId="278"/>
    </pc:sldMkLst>
    <p188:txBody>
      <a:bodyPr/>
      <a:lstStyle/>
      <a:p>
        <a:r>
          <a:rPr lang="ru-RU"/>
          <a:t>Цель построить доверенную среду для проведения DDC, что бы быть уверенными в доверенности сравниваемого компилятора.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86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828B-727A-5E87-9805-4A0464B8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E8351-9A93-5AA6-C225-58BFA1883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21086-BA88-0D6B-2682-3C06EF65A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4B068-45A4-7A69-82DC-171078A12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73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E945E-3167-7CBE-2D53-FD354C81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ADAAC-F5AB-3355-1EC2-13B1E9800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3E3AE-39A7-E741-DEDF-22C06C2C6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C202B-D65C-F20D-FFDE-F4D12866B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51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F6A2-86EC-47C2-0673-7D8A1D955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E0CD4-0D2E-D9FF-C0BF-13884B963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2C51F-67D8-9933-65F6-A02B9F68D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F291E-EAB8-E994-0248-6E7538ECB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80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54D8-8393-098D-9E0C-6C452E1E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ADE13-4ABF-9401-FBA1-11F916159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3ACBB-B64D-1BFE-9AC3-134034218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FACBD-811B-2289-BE4F-E9B72A8A7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8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60CDE-A5DF-EB9E-FC99-ECB7D532B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FCC7C-E89F-CC7A-D25B-D4F253A2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5CAA48-AF56-7E6A-789E-616E72D6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5BB6-E958-4009-A969-F047C08157FA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772D46-485C-4471-5EEF-0FE3AC6A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476CDE-402C-C6EB-20A6-A8920081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9A3F1-9FC1-43F3-868D-33C280F3C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5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6_BD9A236F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19BC89B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1DC1F-2A0C-F865-51EF-407FEBC53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1676400"/>
            <a:ext cx="6858000" cy="1790700"/>
          </a:xfrm>
        </p:spPr>
        <p:txBody>
          <a:bodyPr bIns="27000"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Создание доверенной среды на архитектуре </a:t>
            </a:r>
            <a:r>
              <a:rPr lang="en-US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RISC-V</a:t>
            </a:r>
            <a:endParaRPr lang="ru-RU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AE284-B6BF-035B-338E-85FE097108C6}"/>
              </a:ext>
            </a:extLst>
          </p:cNvPr>
          <p:cNvSpPr txBox="1"/>
          <p:nvPr/>
        </p:nvSpPr>
        <p:spPr>
          <a:xfrm>
            <a:off x="4117663" y="4889584"/>
            <a:ext cx="90867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TEAM 42</a:t>
            </a:r>
            <a:endParaRPr lang="ru-RU" sz="1050" dirty="0">
              <a:solidFill>
                <a:srgbClr val="8B949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FF56B-7B8A-8957-6D9E-63689745210E}"/>
              </a:ext>
            </a:extLst>
          </p:cNvPr>
          <p:cNvSpPr txBox="1"/>
          <p:nvPr/>
        </p:nvSpPr>
        <p:spPr>
          <a:xfrm>
            <a:off x="3983385" y="112068"/>
            <a:ext cx="1177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NSU-FIT 2025</a:t>
            </a:r>
            <a:endParaRPr lang="ru-RU" sz="1050" dirty="0">
              <a:solidFill>
                <a:srgbClr val="8B949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9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74C64-B026-8A29-62C6-C1B96E38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FF0F79D-21B2-D754-76B1-33E141F33AE4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Reflections on Trusting Trust</a:t>
            </a:r>
            <a:endParaRPr lang="ru-RU" sz="3300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5417BC1-3E9B-6AE4-7BEF-C3D059F9D1D8}"/>
              </a:ext>
            </a:extLst>
          </p:cNvPr>
          <p:cNvSpPr/>
          <p:nvPr/>
        </p:nvSpPr>
        <p:spPr>
          <a:xfrm>
            <a:off x="460772" y="2006616"/>
            <a:ext cx="4779169" cy="195102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2486E8E-B038-9FBD-6269-D667BA396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2218132"/>
            <a:ext cx="4443413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ru-RU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Современные программы компилируются другими программами (компиляторами).</a:t>
            </a:r>
            <a:endParaRPr lang="en-US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ru-RU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Если компилятор заражён, то даже чистый исходный код не гарантирует безопасность.</a:t>
            </a:r>
            <a:endParaRPr lang="en-US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ru-RU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altLang="ru-RU" sz="135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Бэкдор</a:t>
            </a:r>
            <a:r>
              <a:rPr lang="ru-RU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сохраняется поколениями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F6D44F-FE02-1FE5-AE7B-057AF3AC7CFB}"/>
              </a:ext>
            </a:extLst>
          </p:cNvPr>
          <p:cNvSpPr txBox="1"/>
          <p:nvPr/>
        </p:nvSpPr>
        <p:spPr>
          <a:xfrm>
            <a:off x="534235" y="3985018"/>
            <a:ext cx="45378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i="1" dirty="0">
                <a:solidFill>
                  <a:srgbClr val="8B949E"/>
                </a:solidFill>
              </a:rPr>
              <a:t>Мы доверяем инструментам, которые сами могли быть</a:t>
            </a:r>
            <a:r>
              <a:rPr lang="en-US" sz="1050" i="1" dirty="0">
                <a:solidFill>
                  <a:srgbClr val="8B949E"/>
                </a:solidFill>
              </a:rPr>
              <a:t> </a:t>
            </a:r>
            <a:r>
              <a:rPr lang="ru-RU" sz="1050" i="1" dirty="0">
                <a:solidFill>
                  <a:srgbClr val="8B949E"/>
                </a:solidFill>
              </a:rPr>
              <a:t>скомпрометированы.</a:t>
            </a:r>
            <a:r>
              <a:rPr lang="en-US" sz="1050" i="1" dirty="0">
                <a:solidFill>
                  <a:srgbClr val="8B949E"/>
                </a:solidFill>
              </a:rPr>
              <a:t> </a:t>
            </a:r>
            <a:r>
              <a:rPr lang="ru-RU" sz="1050" i="1" dirty="0">
                <a:solidFill>
                  <a:srgbClr val="8B949E"/>
                </a:solidFill>
              </a:rPr>
              <a:t>Что если бекдор встроен не в программу, а в сам компилятор?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7D6ABA-D2FA-4FF7-05B7-AAAD9D5C1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220" y="1910355"/>
            <a:ext cx="2852550" cy="22842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139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3C38C-D921-960D-DB36-6F1185F6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4F4BC37-5AC7-1090-851E-F15D119EEAC8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Концепция доверенной цепочки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1A6B301-DB0D-3E31-2BED-F1F132ED640C}"/>
              </a:ext>
            </a:extLst>
          </p:cNvPr>
          <p:cNvSpPr/>
          <p:nvPr/>
        </p:nvSpPr>
        <p:spPr>
          <a:xfrm>
            <a:off x="460772" y="2212922"/>
            <a:ext cx="4779169" cy="425064"/>
          </a:xfrm>
          <a:prstGeom prst="roundRect">
            <a:avLst>
              <a:gd name="adj" fmla="val 31418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DFE915-693D-7EC4-112C-E80E1F13D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2288591"/>
            <a:ext cx="444341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135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|&gt;</a:t>
            </a:r>
            <a:r>
              <a:rPr lang="en-US" altLang="ru-RU" sz="135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altLang="ru-RU" sz="135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Как проверить что компилятор заражен?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0C4AF4-2FB3-20F6-E0BF-0A31D7598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867" y="1984194"/>
            <a:ext cx="14053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-infected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8AD01D-7A60-02B1-E714-E8723836D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794" y="1975925"/>
            <a:ext cx="982409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trusted compiler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8824470-42CE-F763-8A99-564EBDB72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088" y="1424571"/>
            <a:ext cx="66215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gcc.c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8" name="Соединитель: изогнутый 7">
            <a:extLst>
              <a:ext uri="{FF2B5EF4-FFF2-40B4-BE49-F238E27FC236}">
                <a16:creationId xmlns:a16="http://schemas.microsoft.com/office/drawing/2014/main" id="{BDDB1301-1518-4E47-858A-6E2BDF799102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rot="16200000" flipH="1">
            <a:off x="7662905" y="1360830"/>
            <a:ext cx="274355" cy="955833"/>
          </a:xfrm>
          <a:prstGeom prst="curvedConnector3">
            <a:avLst>
              <a:gd name="adj1" fmla="val 50000"/>
            </a:avLst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Соединитель: изогнутый 8">
            <a:extLst>
              <a:ext uri="{FF2B5EF4-FFF2-40B4-BE49-F238E27FC236}">
                <a16:creationId xmlns:a16="http://schemas.microsoft.com/office/drawing/2014/main" id="{31D3C726-7B1A-C545-8A51-657AAE02EB37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rot="5400000" flipH="1" flipV="1">
            <a:off x="6625034" y="1287063"/>
            <a:ext cx="282624" cy="1111639"/>
          </a:xfrm>
          <a:prstGeom prst="curvedConnector3">
            <a:avLst>
              <a:gd name="adj1" fmla="val 50000"/>
            </a:avLst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>
            <a:extLst>
              <a:ext uri="{FF2B5EF4-FFF2-40B4-BE49-F238E27FC236}">
                <a16:creationId xmlns:a16="http://schemas.microsoft.com/office/drawing/2014/main" id="{5877AD13-3DFC-E92D-A795-52528A59D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867" y="3171240"/>
            <a:ext cx="14053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-infected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90174F1-B25E-BA0E-92CC-906E207DD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795" y="3067365"/>
            <a:ext cx="982409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Trusted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6D3B88-3277-1173-4ECE-026B98082A0E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6210527" y="2261193"/>
            <a:ext cx="0" cy="910047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B4184CED-0A79-69A4-F0B6-B1BA952DFEF7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8277999" y="2460673"/>
            <a:ext cx="1" cy="606692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">
            <a:extLst>
              <a:ext uri="{FF2B5EF4-FFF2-40B4-BE49-F238E27FC236}">
                <a16:creationId xmlns:a16="http://schemas.microsoft.com/office/drawing/2014/main" id="{0A7B54E8-8D32-2451-DC3E-FE96B84B3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175" y="3873303"/>
            <a:ext cx="47470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DE82FD0A-F403-9002-57AE-1D9FAB8B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648" y="3873303"/>
            <a:ext cx="47470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gcc</a:t>
            </a:r>
            <a:endParaRPr lang="ru-RU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id="{1398624C-51BB-8DF3-CBAC-4CF8885DCD5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16200000" flipH="1">
            <a:off x="7117186" y="1906550"/>
            <a:ext cx="1365795" cy="955834"/>
          </a:xfrm>
          <a:prstGeom prst="curvedConnector3">
            <a:avLst>
              <a:gd name="adj1" fmla="val 55207"/>
            </a:avLst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изогнутый 21">
            <a:extLst>
              <a:ext uri="{FF2B5EF4-FFF2-40B4-BE49-F238E27FC236}">
                <a16:creationId xmlns:a16="http://schemas.microsoft.com/office/drawing/2014/main" id="{F12291E1-37EA-37BC-875A-7E6279EB598D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5400000">
            <a:off x="6031512" y="1880586"/>
            <a:ext cx="1469670" cy="1111639"/>
          </a:xfrm>
          <a:prstGeom prst="curvedConnector3">
            <a:avLst>
              <a:gd name="adj1" fmla="val 50000"/>
            </a:avLst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45FB44F6-5717-0CD4-3E45-E784674C8395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>
            <a:off x="6210527" y="3448239"/>
            <a:ext cx="0" cy="425064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99D209E-EB29-8B8C-0B78-043E8EDB7BAD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>
            <a:off x="8278000" y="3552113"/>
            <a:ext cx="0" cy="321190"/>
          </a:xfrm>
          <a:prstGeom prst="line">
            <a:avLst/>
          </a:prstGeom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AEE9D1-98AD-A23C-77FA-9800057D3D0A}"/>
              </a:ext>
            </a:extLst>
          </p:cNvPr>
          <p:cNvSpPr txBox="1"/>
          <p:nvPr/>
        </p:nvSpPr>
        <p:spPr>
          <a:xfrm>
            <a:off x="515612" y="2815893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Используется метод </a:t>
            </a:r>
            <a:r>
              <a:rPr lang="ru-RU" sz="1350" i="1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двойной компиляции</a:t>
            </a:r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(Diverse Double Compilation, DDC):</a:t>
            </a:r>
            <a:b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сравниваются результаты сборки компилятора разными независимыми системами.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C33397-B817-A73B-D208-E026BC94934F}"/>
              </a:ext>
            </a:extLst>
          </p:cNvPr>
          <p:cNvSpPr txBox="1"/>
          <p:nvPr/>
        </p:nvSpPr>
        <p:spPr>
          <a:xfrm>
            <a:off x="5364860" y="4215237"/>
            <a:ext cx="37077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50" i="1" dirty="0">
                <a:solidFill>
                  <a:srgbClr val="8B949E"/>
                </a:solidFill>
              </a:rPr>
              <a:t>Если результат идентичен — компилятор считается доверенным.</a:t>
            </a:r>
          </a:p>
        </p:txBody>
      </p:sp>
    </p:spTree>
    <p:extLst>
      <p:ext uri="{BB962C8B-B14F-4D97-AF65-F5344CB8AC3E}">
        <p14:creationId xmlns:p14="http://schemas.microsoft.com/office/powerpoint/2010/main" val="110087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0EDC5-0782-E03D-0444-27742B3C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4108585-A1E5-D3BF-A005-DE5EA006D7F8}"/>
              </a:ext>
            </a:extLst>
          </p:cNvPr>
          <p:cNvSpPr/>
          <p:nvPr/>
        </p:nvSpPr>
        <p:spPr>
          <a:xfrm>
            <a:off x="460773" y="1834074"/>
            <a:ext cx="4779169" cy="90123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9D8C30-AA9B-1065-D379-16BA57B2F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938441"/>
            <a:ext cx="4067176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135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|&gt;</a:t>
            </a: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Цель – построить доверенную </a:t>
            </a:r>
            <a:endParaRPr lang="en-US" alt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135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</a:t>
            </a:r>
            <a:r>
              <a:rPr lang="en-US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lang="ru-RU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вычислительную цепочку (создав мини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ru-RU" sz="1350" dirty="0">
                <a:solidFill>
                  <a:srgbClr val="8B949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</a:t>
            </a:r>
            <a:r>
              <a:rPr lang="ru-RU" alt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ОС из простых бинарников).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10BE01F-E468-8325-258F-19ABEE1D1F4E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Цель проекта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AA517-5A4F-D0F3-FD11-13A6338F003F}"/>
              </a:ext>
            </a:extLst>
          </p:cNvPr>
          <p:cNvSpPr txBox="1"/>
          <p:nvPr/>
        </p:nvSpPr>
        <p:spPr>
          <a:xfrm>
            <a:off x="628650" y="3170735"/>
            <a:ext cx="457200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Главная суть – получить систему, где каждый файл может быть проверен человеком.</a:t>
            </a:r>
            <a:endParaRPr lang="en-US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buNone/>
            </a:pPr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Начиная с минимального кода, понятного глазу,</a:t>
            </a: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постепенно строим компоненты</a:t>
            </a: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6EDDB-7359-330D-1906-DA85C676189A}"/>
              </a:ext>
            </a:extLst>
          </p:cNvPr>
          <p:cNvSpPr txBox="1"/>
          <p:nvPr/>
        </p:nvSpPr>
        <p:spPr>
          <a:xfrm>
            <a:off x="6097166" y="1642250"/>
            <a:ext cx="23622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RISC-V assembly</a:t>
            </a:r>
            <a:r>
              <a:rPr lang="ru-RU" sz="1350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350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source</a:t>
            </a:r>
            <a:endParaRPr lang="ru-RU" sz="1350" dirty="0">
              <a:solidFill>
                <a:srgbClr val="C9D1D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en-US" sz="1350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Compiling into hex0</a:t>
            </a:r>
            <a:endParaRPr lang="ru-RU" sz="1350" dirty="0">
              <a:solidFill>
                <a:srgbClr val="C9D1D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en-US" sz="1350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Build image: concatenate Boot + payload (system)</a:t>
            </a:r>
            <a:endParaRPr lang="ru-RU" sz="1350" dirty="0">
              <a:solidFill>
                <a:srgbClr val="C9D1D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</a:p>
          <a:p>
            <a:pPr algn="ctr"/>
            <a:r>
              <a:rPr lang="en-US" sz="1350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Run minimal system (payload)</a:t>
            </a:r>
          </a:p>
          <a:p>
            <a:pPr algn="ctr"/>
            <a:r>
              <a:rPr lang="ru-RU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↓</a:t>
            </a:r>
            <a:endParaRPr lang="en-US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/>
            <a:r>
              <a:rPr lang="en-US" sz="1350" dirty="0">
                <a:solidFill>
                  <a:srgbClr val="C9D1D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Deploy next-stage components</a:t>
            </a:r>
            <a:endParaRPr lang="ru-RU" sz="1350" dirty="0">
              <a:solidFill>
                <a:srgbClr val="C9D1D9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D6EFD8-D9D8-A47D-7E61-5043CE71F698}"/>
              </a:ext>
            </a:extLst>
          </p:cNvPr>
          <p:cNvSpPr txBox="1"/>
          <p:nvPr/>
        </p:nvSpPr>
        <p:spPr>
          <a:xfrm>
            <a:off x="3943350" y="55086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200" i="1" dirty="0">
                <a:solidFill>
                  <a:srgbClr val="8B949E"/>
                </a:solidFill>
              </a:rPr>
              <a:t>“Мы не можем доверять системе, если не можем верифицировать её основания.”</a:t>
            </a:r>
            <a:br>
              <a:rPr lang="ru-RU" sz="1200" dirty="0">
                <a:solidFill>
                  <a:srgbClr val="8B949E"/>
                </a:solidFill>
              </a:rPr>
            </a:br>
            <a:r>
              <a:rPr lang="ru-RU" sz="1200" dirty="0">
                <a:solidFill>
                  <a:srgbClr val="8B949E"/>
                </a:solidFill>
              </a:rPr>
              <a:t>— </a:t>
            </a:r>
            <a:r>
              <a:rPr lang="ru-RU" sz="1200" dirty="0" err="1">
                <a:solidFill>
                  <a:srgbClr val="8B949E"/>
                </a:solidFill>
              </a:rPr>
              <a:t>Ken</a:t>
            </a:r>
            <a:r>
              <a:rPr lang="ru-RU" sz="1200" dirty="0">
                <a:solidFill>
                  <a:srgbClr val="8B949E"/>
                </a:solidFill>
              </a:rPr>
              <a:t> </a:t>
            </a:r>
            <a:r>
              <a:rPr lang="ru-RU" sz="1200" dirty="0" err="1">
                <a:solidFill>
                  <a:srgbClr val="8B949E"/>
                </a:solidFill>
              </a:rPr>
              <a:t>Thompson</a:t>
            </a:r>
            <a:r>
              <a:rPr lang="ru-RU" sz="1200" dirty="0">
                <a:solidFill>
                  <a:srgbClr val="8B949E"/>
                </a:solidFill>
              </a:rPr>
              <a:t>, </a:t>
            </a:r>
            <a:r>
              <a:rPr lang="ru-RU" sz="1200" i="1" dirty="0" err="1">
                <a:solidFill>
                  <a:srgbClr val="8B949E"/>
                </a:solidFill>
              </a:rPr>
              <a:t>Reflections</a:t>
            </a:r>
            <a:r>
              <a:rPr lang="ru-RU" sz="1200" i="1" dirty="0">
                <a:solidFill>
                  <a:srgbClr val="8B949E"/>
                </a:solidFill>
              </a:rPr>
              <a:t> </a:t>
            </a:r>
            <a:r>
              <a:rPr lang="ru-RU" sz="1200" i="1" dirty="0" err="1">
                <a:solidFill>
                  <a:srgbClr val="8B949E"/>
                </a:solidFill>
              </a:rPr>
              <a:t>on</a:t>
            </a:r>
            <a:r>
              <a:rPr lang="ru-RU" sz="1200" i="1" dirty="0">
                <a:solidFill>
                  <a:srgbClr val="8B949E"/>
                </a:solidFill>
              </a:rPr>
              <a:t> </a:t>
            </a:r>
            <a:r>
              <a:rPr lang="ru-RU" sz="1200" i="1" dirty="0" err="1">
                <a:solidFill>
                  <a:srgbClr val="8B949E"/>
                </a:solidFill>
              </a:rPr>
              <a:t>Trusting</a:t>
            </a:r>
            <a:r>
              <a:rPr lang="ru-RU" sz="1200" i="1" dirty="0">
                <a:solidFill>
                  <a:srgbClr val="8B949E"/>
                </a:solidFill>
              </a:rPr>
              <a:t> Trust</a:t>
            </a:r>
            <a:endParaRPr lang="ru-RU" sz="1200" dirty="0">
              <a:solidFill>
                <a:srgbClr val="8B94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9954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B9A8884D-F7E6-ED7B-D25D-49693680CD55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Уровни </a:t>
            </a:r>
            <a:r>
              <a:rPr lang="en-US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bootstrap. </a:t>
            </a:r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Сравнение с </a:t>
            </a:r>
            <a:r>
              <a:rPr lang="en-US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live-bootstrap.</a:t>
            </a:r>
            <a:endParaRPr lang="ru-RU" sz="3300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88BAA6DC-3998-CE14-9799-EE7BF67E228C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1203092" y="2124129"/>
            <a:ext cx="181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E458245-232D-99A4-72A8-2B83ADC1866F}"/>
              </a:ext>
            </a:extLst>
          </p:cNvPr>
          <p:cNvSpPr/>
          <p:nvPr/>
        </p:nvSpPr>
        <p:spPr>
          <a:xfrm>
            <a:off x="279167" y="1850478"/>
            <a:ext cx="923925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hex0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B88B890-DE5B-ECB2-70C1-7E731AE24E32}"/>
              </a:ext>
            </a:extLst>
          </p:cNvPr>
          <p:cNvSpPr/>
          <p:nvPr/>
        </p:nvSpPr>
        <p:spPr>
          <a:xfrm>
            <a:off x="1384351" y="1850478"/>
            <a:ext cx="1210242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builder-hex0-x86-stage1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75BCFED-F7CB-693F-3B65-C3C8CB433938}"/>
              </a:ext>
            </a:extLst>
          </p:cNvPr>
          <p:cNvSpPr/>
          <p:nvPr/>
        </p:nvSpPr>
        <p:spPr>
          <a:xfrm>
            <a:off x="2798166" y="1850478"/>
            <a:ext cx="1210242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builder-hex0-x86-stage2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BB2E851-F08A-88C1-0252-EE197119DB8D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2594593" y="2124129"/>
            <a:ext cx="203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F15DE24-9B65-8D68-D5A9-DFCBE0C27AAC}"/>
              </a:ext>
            </a:extLst>
          </p:cNvPr>
          <p:cNvSpPr txBox="1"/>
          <p:nvPr/>
        </p:nvSpPr>
        <p:spPr>
          <a:xfrm>
            <a:off x="279167" y="2777714"/>
            <a:ext cx="9239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0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308BD0-04C0-8FA3-004D-F033F53188E7}"/>
              </a:ext>
            </a:extLst>
          </p:cNvPr>
          <p:cNvSpPr txBox="1"/>
          <p:nvPr/>
        </p:nvSpPr>
        <p:spPr>
          <a:xfrm>
            <a:off x="317265" y="1540830"/>
            <a:ext cx="8477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x86</a:t>
            </a:r>
            <a:endParaRPr 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22272E-094D-7272-63BF-DFB991D95F14}"/>
              </a:ext>
            </a:extLst>
          </p:cNvPr>
          <p:cNvSpPr txBox="1"/>
          <p:nvPr/>
        </p:nvSpPr>
        <p:spPr>
          <a:xfrm>
            <a:off x="1527508" y="2778856"/>
            <a:ext cx="9239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1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37AB3B-A0D8-EDD5-CAD9-4624757C4C06}"/>
              </a:ext>
            </a:extLst>
          </p:cNvPr>
          <p:cNvSpPr txBox="1"/>
          <p:nvPr/>
        </p:nvSpPr>
        <p:spPr>
          <a:xfrm>
            <a:off x="2941322" y="2777714"/>
            <a:ext cx="9239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2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7718F318-2BEF-B962-AFBB-12E707BDA37F}"/>
              </a:ext>
            </a:extLst>
          </p:cNvPr>
          <p:cNvSpPr/>
          <p:nvPr/>
        </p:nvSpPr>
        <p:spPr>
          <a:xfrm>
            <a:off x="279167" y="3457730"/>
            <a:ext cx="923925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hex0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968436-3950-D9CE-6075-3385845AFD15}"/>
              </a:ext>
            </a:extLst>
          </p:cNvPr>
          <p:cNvSpPr txBox="1"/>
          <p:nvPr/>
        </p:nvSpPr>
        <p:spPr>
          <a:xfrm>
            <a:off x="317266" y="4014598"/>
            <a:ext cx="8477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RISC-V</a:t>
            </a:r>
            <a:endParaRPr 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50AAE4F-11EE-39FD-CAB2-2B313BE76D30}"/>
              </a:ext>
            </a:extLst>
          </p:cNvPr>
          <p:cNvCxnSpPr>
            <a:cxnSpLocks/>
            <a:stCxn id="30" idx="3"/>
            <a:endCxn id="33" idx="1"/>
          </p:cNvCxnSpPr>
          <p:nvPr/>
        </p:nvCxnSpPr>
        <p:spPr>
          <a:xfrm>
            <a:off x="1203092" y="3731381"/>
            <a:ext cx="181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69F4F7D2-7ED7-7921-1C24-E8FFCC4D1DBE}"/>
              </a:ext>
            </a:extLst>
          </p:cNvPr>
          <p:cNvSpPr/>
          <p:nvPr/>
        </p:nvSpPr>
        <p:spPr>
          <a:xfrm>
            <a:off x="1384350" y="3457730"/>
            <a:ext cx="1210243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boot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2B629E20-5D0C-A382-B9AB-1589BB42C61E}"/>
              </a:ext>
            </a:extLst>
          </p:cNvPr>
          <p:cNvCxnSpPr>
            <a:cxnSpLocks/>
            <a:stCxn id="33" idx="3"/>
            <a:endCxn id="56" idx="1"/>
          </p:cNvCxnSpPr>
          <p:nvPr/>
        </p:nvCxnSpPr>
        <p:spPr>
          <a:xfrm>
            <a:off x="2594593" y="3731381"/>
            <a:ext cx="2035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83460180-D851-964D-E62D-7BC3557E47FA}"/>
              </a:ext>
            </a:extLst>
          </p:cNvPr>
          <p:cNvSpPr/>
          <p:nvPr/>
        </p:nvSpPr>
        <p:spPr>
          <a:xfrm>
            <a:off x="2798165" y="3457730"/>
            <a:ext cx="1210243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simon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19F88E50-8C22-C093-9A6B-267FADB8852E}"/>
              </a:ext>
            </a:extLst>
          </p:cNvPr>
          <p:cNvSpPr/>
          <p:nvPr/>
        </p:nvSpPr>
        <p:spPr>
          <a:xfrm>
            <a:off x="4284059" y="1850478"/>
            <a:ext cx="923926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hex1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69" name="Прямая со стрелкой 68">
            <a:extLst>
              <a:ext uri="{FF2B5EF4-FFF2-40B4-BE49-F238E27FC236}">
                <a16:creationId xmlns:a16="http://schemas.microsoft.com/office/drawing/2014/main" id="{190F1810-74DB-840F-ED58-0075BEB1D752}"/>
              </a:ext>
            </a:extLst>
          </p:cNvPr>
          <p:cNvCxnSpPr>
            <a:cxnSpLocks/>
            <a:stCxn id="18" idx="3"/>
            <a:endCxn id="68" idx="1"/>
          </p:cNvCxnSpPr>
          <p:nvPr/>
        </p:nvCxnSpPr>
        <p:spPr>
          <a:xfrm>
            <a:off x="4008408" y="2124129"/>
            <a:ext cx="275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39BF27F-A982-E3C6-3EDE-9F3092779CBC}"/>
              </a:ext>
            </a:extLst>
          </p:cNvPr>
          <p:cNvSpPr txBox="1"/>
          <p:nvPr/>
        </p:nvSpPr>
        <p:spPr>
          <a:xfrm>
            <a:off x="4284059" y="2777714"/>
            <a:ext cx="9239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3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4891BE7D-CDF0-8BD7-8D93-BF13676B2E77}"/>
              </a:ext>
            </a:extLst>
          </p:cNvPr>
          <p:cNvCxnSpPr>
            <a:cxnSpLocks/>
            <a:stCxn id="56" idx="3"/>
            <a:endCxn id="72" idx="1"/>
          </p:cNvCxnSpPr>
          <p:nvPr/>
        </p:nvCxnSpPr>
        <p:spPr>
          <a:xfrm>
            <a:off x="4008408" y="3731381"/>
            <a:ext cx="275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22CED0E5-A047-CC4C-0ACC-68F82E0C5F20}"/>
              </a:ext>
            </a:extLst>
          </p:cNvPr>
          <p:cNvSpPr/>
          <p:nvPr/>
        </p:nvSpPr>
        <p:spPr>
          <a:xfrm>
            <a:off x="4284059" y="3457730"/>
            <a:ext cx="923926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hex1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8" name="Прямоугольник: скругленные углы 77">
            <a:extLst>
              <a:ext uri="{FF2B5EF4-FFF2-40B4-BE49-F238E27FC236}">
                <a16:creationId xmlns:a16="http://schemas.microsoft.com/office/drawing/2014/main" id="{FD52055E-8C9D-0A91-E118-7A98E0BF5281}"/>
              </a:ext>
            </a:extLst>
          </p:cNvPr>
          <p:cNvSpPr/>
          <p:nvPr/>
        </p:nvSpPr>
        <p:spPr>
          <a:xfrm>
            <a:off x="5554717" y="1850478"/>
            <a:ext cx="923926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hex2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1A961639-AFF3-6806-45BE-005DA30D067E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5207983" y="2124129"/>
            <a:ext cx="346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48C5A5E-1E13-104B-836A-16899F9A49F0}"/>
              </a:ext>
            </a:extLst>
          </p:cNvPr>
          <p:cNvSpPr txBox="1"/>
          <p:nvPr/>
        </p:nvSpPr>
        <p:spPr>
          <a:xfrm>
            <a:off x="5554716" y="2777714"/>
            <a:ext cx="9239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4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0FD6D141-2698-FABC-BB53-BF95BD5C6D0C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5207985" y="3731381"/>
            <a:ext cx="346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Прямоугольник: скругленные углы 81">
            <a:extLst>
              <a:ext uri="{FF2B5EF4-FFF2-40B4-BE49-F238E27FC236}">
                <a16:creationId xmlns:a16="http://schemas.microsoft.com/office/drawing/2014/main" id="{1714C9A3-02AC-D6E6-E05E-A668764A1B1A}"/>
              </a:ext>
            </a:extLst>
          </p:cNvPr>
          <p:cNvSpPr/>
          <p:nvPr/>
        </p:nvSpPr>
        <p:spPr>
          <a:xfrm>
            <a:off x="5554716" y="3457730"/>
            <a:ext cx="923927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hex2</a:t>
            </a:r>
            <a:endParaRPr lang="en-US" sz="14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2" name="Прямоугольник: скругленные углы 91">
            <a:extLst>
              <a:ext uri="{FF2B5EF4-FFF2-40B4-BE49-F238E27FC236}">
                <a16:creationId xmlns:a16="http://schemas.microsoft.com/office/drawing/2014/main" id="{A86B72C7-DE13-9CB6-0029-FDAAB5905B0E}"/>
              </a:ext>
            </a:extLst>
          </p:cNvPr>
          <p:cNvSpPr/>
          <p:nvPr/>
        </p:nvSpPr>
        <p:spPr>
          <a:xfrm>
            <a:off x="6769276" y="1850478"/>
            <a:ext cx="923926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M0</a:t>
            </a:r>
            <a:endParaRPr lang="en-US" sz="135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93" name="Прямая со стрелкой 92">
            <a:extLst>
              <a:ext uri="{FF2B5EF4-FFF2-40B4-BE49-F238E27FC236}">
                <a16:creationId xmlns:a16="http://schemas.microsoft.com/office/drawing/2014/main" id="{C65A5AC8-D18C-117D-1A5D-DC63B772FD7F}"/>
              </a:ext>
            </a:extLst>
          </p:cNvPr>
          <p:cNvCxnSpPr>
            <a:cxnSpLocks/>
            <a:stCxn id="78" idx="3"/>
            <a:endCxn id="92" idx="1"/>
          </p:cNvCxnSpPr>
          <p:nvPr/>
        </p:nvCxnSpPr>
        <p:spPr>
          <a:xfrm>
            <a:off x="6478643" y="2124129"/>
            <a:ext cx="2906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145D651-09FC-C28D-7ADA-43C0EEB8555A}"/>
              </a:ext>
            </a:extLst>
          </p:cNvPr>
          <p:cNvSpPr txBox="1"/>
          <p:nvPr/>
        </p:nvSpPr>
        <p:spPr>
          <a:xfrm>
            <a:off x="6790592" y="2787280"/>
            <a:ext cx="9239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5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E10368CC-EB5B-F6AA-2A0E-256EA9EDE9C7}"/>
              </a:ext>
            </a:extLst>
          </p:cNvPr>
          <p:cNvCxnSpPr>
            <a:cxnSpLocks/>
            <a:stCxn id="82" idx="3"/>
            <a:endCxn id="96" idx="1"/>
          </p:cNvCxnSpPr>
          <p:nvPr/>
        </p:nvCxnSpPr>
        <p:spPr>
          <a:xfrm>
            <a:off x="6478643" y="3731381"/>
            <a:ext cx="31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Прямоугольник: скругленные углы 95">
            <a:extLst>
              <a:ext uri="{FF2B5EF4-FFF2-40B4-BE49-F238E27FC236}">
                <a16:creationId xmlns:a16="http://schemas.microsoft.com/office/drawing/2014/main" id="{49DB3934-4C31-79F6-C071-0028BAF99EBB}"/>
              </a:ext>
            </a:extLst>
          </p:cNvPr>
          <p:cNvSpPr/>
          <p:nvPr/>
        </p:nvSpPr>
        <p:spPr>
          <a:xfrm>
            <a:off x="6790590" y="3457730"/>
            <a:ext cx="923927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JetBrains Mono" panose="02000009000000000000" pitchFamily="49" charset="0"/>
                <a:cs typeface="JetBrains Mono" panose="02000009000000000000" pitchFamily="49" charset="0"/>
              </a:rPr>
              <a:t>M0</a:t>
            </a:r>
          </a:p>
        </p:txBody>
      </p: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E38AA2A5-164B-936E-7EC2-B25EA82C7790}"/>
              </a:ext>
            </a:extLst>
          </p:cNvPr>
          <p:cNvCxnSpPr>
            <a:cxnSpLocks/>
            <a:stCxn id="92" idx="3"/>
            <a:endCxn id="116" idx="1"/>
          </p:cNvCxnSpPr>
          <p:nvPr/>
        </p:nvCxnSpPr>
        <p:spPr>
          <a:xfrm flipV="1">
            <a:off x="7693202" y="2114563"/>
            <a:ext cx="226465" cy="9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Прямоугольник: скругленные углы 104">
            <a:extLst>
              <a:ext uri="{FF2B5EF4-FFF2-40B4-BE49-F238E27FC236}">
                <a16:creationId xmlns:a16="http://schemas.microsoft.com/office/drawing/2014/main" id="{845EE4CB-40C1-BA36-DB8F-5FF7C3F4DA74}"/>
              </a:ext>
            </a:extLst>
          </p:cNvPr>
          <p:cNvSpPr/>
          <p:nvPr/>
        </p:nvSpPr>
        <p:spPr>
          <a:xfrm>
            <a:off x="7919667" y="3457730"/>
            <a:ext cx="961391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…</a:t>
            </a:r>
            <a:endParaRPr lang="en-US" sz="1400" dirty="0"/>
          </a:p>
        </p:txBody>
      </p: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38F144D4-B9AB-071C-C62D-C71520090532}"/>
              </a:ext>
            </a:extLst>
          </p:cNvPr>
          <p:cNvCxnSpPr>
            <a:cxnSpLocks/>
            <a:stCxn id="96" idx="3"/>
            <a:endCxn id="105" idx="1"/>
          </p:cNvCxnSpPr>
          <p:nvPr/>
        </p:nvCxnSpPr>
        <p:spPr>
          <a:xfrm>
            <a:off x="7714517" y="3731381"/>
            <a:ext cx="205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Прямоугольник: скругленные углы 115">
            <a:extLst>
              <a:ext uri="{FF2B5EF4-FFF2-40B4-BE49-F238E27FC236}">
                <a16:creationId xmlns:a16="http://schemas.microsoft.com/office/drawing/2014/main" id="{AAF6D8BA-47CE-D54D-CF73-69AF1786875C}"/>
              </a:ext>
            </a:extLst>
          </p:cNvPr>
          <p:cNvSpPr/>
          <p:nvPr/>
        </p:nvSpPr>
        <p:spPr>
          <a:xfrm>
            <a:off x="7919667" y="1840912"/>
            <a:ext cx="961391" cy="5473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tinycc</a:t>
            </a:r>
            <a:r>
              <a:rPr lang="en-US" sz="1400" dirty="0"/>
              <a:t> 0.9.26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4AF4C08-7337-E6F7-30F4-DBB08BCF2671}"/>
              </a:ext>
            </a:extLst>
          </p:cNvPr>
          <p:cNvSpPr txBox="1"/>
          <p:nvPr/>
        </p:nvSpPr>
        <p:spPr>
          <a:xfrm>
            <a:off x="7895557" y="2772931"/>
            <a:ext cx="100960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 20</a:t>
            </a:r>
            <a:endParaRPr lang="ru-RU" sz="13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51DC7-07C2-D934-A492-767212A4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A7E6B38D-1658-09CC-6E82-0EAA90CA88C7}"/>
              </a:ext>
            </a:extLst>
          </p:cNvPr>
          <p:cNvSpPr txBox="1">
            <a:spLocks/>
          </p:cNvSpPr>
          <p:nvPr/>
        </p:nvSpPr>
        <p:spPr>
          <a:xfrm>
            <a:off x="628650" y="64801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Фрагменты кода </a:t>
            </a:r>
            <a:r>
              <a:rPr lang="en-US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hex</a:t>
            </a:r>
            <a:endParaRPr lang="ru-RU" sz="3300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FF0B583-557F-A7E2-F5AE-9E428A7DEDF3}"/>
              </a:ext>
            </a:extLst>
          </p:cNvPr>
          <p:cNvSpPr/>
          <p:nvPr/>
        </p:nvSpPr>
        <p:spPr>
          <a:xfrm>
            <a:off x="1333501" y="1184921"/>
            <a:ext cx="3257550" cy="990598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# :</a:t>
            </a:r>
            <a:r>
              <a:rPr lang="en-US" sz="1100" dirty="0" err="1"/>
              <a:t>loop_options</a:t>
            </a:r>
            <a:r>
              <a:rPr lang="en-US" sz="1100" dirty="0"/>
              <a:t> [_start + 0x6F]</a:t>
            </a:r>
          </a:p>
          <a:p>
            <a:r>
              <a:rPr lang="en-US" sz="1100" dirty="0"/>
              <a:t>    39D3            ; </a:t>
            </a:r>
            <a:r>
              <a:rPr lang="ru-RU" sz="1100" dirty="0"/>
              <a:t> </a:t>
            </a:r>
            <a:r>
              <a:rPr lang="en-US" sz="1100" dirty="0" err="1"/>
              <a:t>cmp_ebx,edx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en-US" sz="1100" dirty="0"/>
              <a:t>74 14           ; </a:t>
            </a:r>
            <a:r>
              <a:rPr lang="ru-RU" sz="1100" dirty="0"/>
              <a:t> </a:t>
            </a:r>
            <a:r>
              <a:rPr lang="en-US" sz="1100" dirty="0"/>
              <a:t>je !</a:t>
            </a:r>
            <a:r>
              <a:rPr lang="en-US" sz="1100" dirty="0" err="1"/>
              <a:t>loop_options_done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en-US" sz="1100" dirty="0"/>
              <a:t>83EB 02       ; </a:t>
            </a:r>
            <a:r>
              <a:rPr lang="ru-RU" sz="1100" dirty="0"/>
              <a:t> </a:t>
            </a:r>
            <a:r>
              <a:rPr lang="en-US" sz="1100" dirty="0" err="1"/>
              <a:t>sub_ebx</a:t>
            </a:r>
            <a:r>
              <a:rPr lang="en-US" sz="1100" dirty="0"/>
              <a:t>, !2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24F534B-665A-DF1E-0624-4BAC71EE2B6D}"/>
              </a:ext>
            </a:extLst>
          </p:cNvPr>
          <p:cNvSpPr/>
          <p:nvPr/>
        </p:nvSpPr>
        <p:spPr>
          <a:xfrm>
            <a:off x="1333501" y="3742451"/>
            <a:ext cx="3257550" cy="990598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:</a:t>
            </a:r>
            <a:r>
              <a:rPr lang="en-US" sz="1100" dirty="0" err="1"/>
              <a:t>loop_options</a:t>
            </a:r>
            <a:endParaRPr lang="en-US" sz="1100" dirty="0"/>
          </a:p>
          <a:p>
            <a:r>
              <a:rPr lang="en-US" sz="1100" dirty="0"/>
              <a:t>    39D3                                   ; </a:t>
            </a:r>
            <a:r>
              <a:rPr lang="en-US" sz="1100" dirty="0" err="1"/>
              <a:t>cmp_ebx,edx</a:t>
            </a:r>
            <a:endParaRPr lang="ru-RU" sz="1100" dirty="0"/>
          </a:p>
          <a:p>
            <a:r>
              <a:rPr lang="en-US" sz="1100" dirty="0"/>
              <a:t>    74  !</a:t>
            </a:r>
            <a:r>
              <a:rPr lang="en-US" sz="1100" dirty="0" err="1"/>
              <a:t>loop_options_done</a:t>
            </a:r>
            <a:r>
              <a:rPr lang="en-US" sz="1100" dirty="0"/>
              <a:t>  ; je8 !</a:t>
            </a:r>
            <a:r>
              <a:rPr lang="en-US" sz="1100" dirty="0" err="1"/>
              <a:t>loop_options_done</a:t>
            </a:r>
            <a:endParaRPr lang="ru-RU" sz="1100" dirty="0"/>
          </a:p>
          <a:p>
            <a:r>
              <a:rPr lang="ru-RU" sz="1100" dirty="0"/>
              <a:t>    </a:t>
            </a:r>
            <a:r>
              <a:rPr lang="en-US" sz="1100" dirty="0"/>
              <a:t>83EB 02                              ; </a:t>
            </a:r>
            <a:r>
              <a:rPr lang="en-US" sz="1100" dirty="0" err="1"/>
              <a:t>sub_ebx</a:t>
            </a:r>
            <a:r>
              <a:rPr lang="en-US" sz="1100" dirty="0"/>
              <a:t>, !2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0EE32C8-79C8-EBA4-F701-DE9665058211}"/>
              </a:ext>
            </a:extLst>
          </p:cNvPr>
          <p:cNvSpPr/>
          <p:nvPr/>
        </p:nvSpPr>
        <p:spPr>
          <a:xfrm>
            <a:off x="5203826" y="2045633"/>
            <a:ext cx="2235200" cy="189230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DEFINE </a:t>
            </a:r>
            <a:r>
              <a:rPr lang="en-US" sz="1100" dirty="0" err="1"/>
              <a:t>cmp_ebx,edx</a:t>
            </a:r>
            <a:r>
              <a:rPr lang="en-US" sz="1100" dirty="0"/>
              <a:t> 39D3</a:t>
            </a:r>
          </a:p>
          <a:p>
            <a:r>
              <a:rPr lang="en-US" sz="1100" dirty="0"/>
              <a:t>DEFINE je 0F84</a:t>
            </a:r>
          </a:p>
          <a:p>
            <a:r>
              <a:rPr lang="en-US" sz="1100" dirty="0"/>
              <a:t>DEFINE </a:t>
            </a:r>
            <a:r>
              <a:rPr lang="en-US" sz="1100" dirty="0" err="1"/>
              <a:t>sub_ebx</a:t>
            </a:r>
            <a:r>
              <a:rPr lang="en-US" sz="1100" dirty="0"/>
              <a:t>, 81EB</a:t>
            </a:r>
          </a:p>
          <a:p>
            <a:endParaRPr lang="en-US" sz="1100" dirty="0"/>
          </a:p>
          <a:p>
            <a:r>
              <a:rPr lang="en-US" sz="1100" dirty="0"/>
              <a:t>:</a:t>
            </a:r>
            <a:r>
              <a:rPr lang="en-US" sz="1100" dirty="0" err="1"/>
              <a:t>loop_options</a:t>
            </a:r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cmp_ebx,edx</a:t>
            </a:r>
            <a:endParaRPr lang="en-US" sz="1100" dirty="0"/>
          </a:p>
          <a:p>
            <a:r>
              <a:rPr lang="en-US" sz="1100" dirty="0"/>
              <a:t>    je %</a:t>
            </a:r>
            <a:r>
              <a:rPr lang="en-US" sz="1100" dirty="0" err="1"/>
              <a:t>loop_options_done</a:t>
            </a:r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sub_ebx</a:t>
            </a:r>
            <a:r>
              <a:rPr lang="en-US" sz="1100" dirty="0"/>
              <a:t>, %2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A3E19D1-6212-7DD9-70B0-5A5049CE6417}"/>
              </a:ext>
            </a:extLst>
          </p:cNvPr>
          <p:cNvSpPr/>
          <p:nvPr/>
        </p:nvSpPr>
        <p:spPr>
          <a:xfrm>
            <a:off x="1333501" y="2463686"/>
            <a:ext cx="3257550" cy="990598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:a #:loop_options</a:t>
            </a:r>
          </a:p>
          <a:p>
            <a:r>
              <a:rPr lang="en-US" sz="1100" dirty="0"/>
              <a:t>    39D3               ; </a:t>
            </a:r>
            <a:r>
              <a:rPr lang="en-US" sz="1100" dirty="0" err="1"/>
              <a:t>cmp_ebx,edx</a:t>
            </a:r>
            <a:endParaRPr lang="en-US" sz="1100" dirty="0"/>
          </a:p>
          <a:p>
            <a:r>
              <a:rPr lang="en-US" sz="1100" dirty="0"/>
              <a:t>    0F84 %b         ; je %</a:t>
            </a:r>
            <a:r>
              <a:rPr lang="en-US" sz="1100" dirty="0" err="1"/>
              <a:t>loop_options_done</a:t>
            </a:r>
            <a:endParaRPr lang="en-US" sz="1100" dirty="0"/>
          </a:p>
          <a:p>
            <a:r>
              <a:rPr lang="en-US" sz="1100" dirty="0"/>
              <a:t>    83EB 02          ; </a:t>
            </a:r>
            <a:r>
              <a:rPr lang="en-US" sz="1100" dirty="0" err="1"/>
              <a:t>sub_rbx</a:t>
            </a:r>
            <a:r>
              <a:rPr lang="en-US" sz="1100" dirty="0"/>
              <a:t>, !2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8E12D-BE3E-193A-0744-44FDFB5C3C9B}"/>
              </a:ext>
            </a:extLst>
          </p:cNvPr>
          <p:cNvSpPr txBox="1"/>
          <p:nvPr/>
        </p:nvSpPr>
        <p:spPr>
          <a:xfrm>
            <a:off x="2676526" y="896449"/>
            <a:ext cx="546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hex0</a:t>
            </a:r>
            <a:endParaRPr lang="ru-RU" sz="10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18E21-6417-543C-00AB-9D3AE2582B44}"/>
              </a:ext>
            </a:extLst>
          </p:cNvPr>
          <p:cNvSpPr txBox="1"/>
          <p:nvPr/>
        </p:nvSpPr>
        <p:spPr>
          <a:xfrm>
            <a:off x="2689226" y="2192243"/>
            <a:ext cx="546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hex1</a:t>
            </a:r>
            <a:endParaRPr lang="ru-RU" sz="10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0DFCC-6CD7-B34D-6022-A21971BDFCD1}"/>
              </a:ext>
            </a:extLst>
          </p:cNvPr>
          <p:cNvSpPr txBox="1"/>
          <p:nvPr/>
        </p:nvSpPr>
        <p:spPr>
          <a:xfrm>
            <a:off x="2689226" y="3472542"/>
            <a:ext cx="546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hex2</a:t>
            </a:r>
            <a:endParaRPr lang="ru-RU" sz="1050" dirty="0">
              <a:solidFill>
                <a:srgbClr val="58A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A5A7DD-216C-EABC-BCA7-DAFB12EC0329}"/>
              </a:ext>
            </a:extLst>
          </p:cNvPr>
          <p:cNvSpPr txBox="1"/>
          <p:nvPr/>
        </p:nvSpPr>
        <p:spPr>
          <a:xfrm>
            <a:off x="5318126" y="1776138"/>
            <a:ext cx="2006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 (</a:t>
            </a:r>
            <a:r>
              <a:rPr lang="ru-RU" sz="1050" dirty="0">
                <a:solidFill>
                  <a:srgbClr val="58A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текущий этап)</a:t>
            </a:r>
          </a:p>
        </p:txBody>
      </p:sp>
    </p:spTree>
    <p:extLst>
      <p:ext uri="{BB962C8B-B14F-4D97-AF65-F5344CB8AC3E}">
        <p14:creationId xmlns:p14="http://schemas.microsoft.com/office/powerpoint/2010/main" val="284602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6A678A64-2310-87BA-976A-F42F332309A8}"/>
              </a:ext>
            </a:extLst>
          </p:cNvPr>
          <p:cNvCxnSpPr>
            <a:cxnSpLocks/>
          </p:cNvCxnSpPr>
          <p:nvPr/>
        </p:nvCxnSpPr>
        <p:spPr>
          <a:xfrm flipH="1">
            <a:off x="4872038" y="1695608"/>
            <a:ext cx="1858590" cy="604637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FE0E89-B9EB-8BD4-63C0-B1F517411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"/>
                    </a14:imgEffect>
                    <a14:imgEffect>
                      <a14:colorTemperature colorTemp="7300"/>
                    </a14:imgEffect>
                    <a14:imgEffect>
                      <a14:saturation sat="82000"/>
                    </a14:imgEffect>
                    <a14:imgEffect>
                      <a14:brightnessContrast bright="-2000" contrast="-1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3330047" y="1387157"/>
            <a:ext cx="2323574" cy="2323572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D84B22A-4C69-3C2A-6EBE-D2175414097A}"/>
              </a:ext>
            </a:extLst>
          </p:cNvPr>
          <p:cNvSpPr/>
          <p:nvPr/>
        </p:nvSpPr>
        <p:spPr>
          <a:xfrm>
            <a:off x="627888" y="3946893"/>
            <a:ext cx="3877817" cy="899427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80"/>
              </a:lnSpc>
            </a:pPr>
            <a:r>
              <a:rPr lang="en-US" sz="1350" b="1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Разработка </a:t>
            </a:r>
            <a:r>
              <a:rPr lang="ru-RU" sz="1350" b="1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(виртуальная машина)</a:t>
            </a:r>
            <a:endParaRPr lang="en-US" sz="1350" b="1" dirty="0">
              <a:solidFill>
                <a:srgbClr val="FFFF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ctr">
              <a:lnSpc>
                <a:spcPts val="1680"/>
              </a:lnSpc>
            </a:pP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QEMU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978C00D-36AE-C3CB-609D-0C39CE1B7CD9}"/>
              </a:ext>
            </a:extLst>
          </p:cNvPr>
          <p:cNvSpPr/>
          <p:nvPr/>
        </p:nvSpPr>
        <p:spPr>
          <a:xfrm>
            <a:off x="4815079" y="3946894"/>
            <a:ext cx="3877817" cy="899426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680"/>
              </a:lnSpc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железо</a:t>
            </a:r>
          </a:p>
          <a:p>
            <a:pPr algn="ctr">
              <a:lnSpc>
                <a:spcPts val="1680"/>
              </a:lnSpc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Lichee Pi 4A (RISC-V)</a:t>
            </a:r>
            <a:endParaRPr lang="en-US" sz="1400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EAE6301-B7C5-DB0B-8788-900797D65BEE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Платформы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F44C324-2955-4448-7E74-07E837A2CC5D}"/>
              </a:ext>
            </a:extLst>
          </p:cNvPr>
          <p:cNvCxnSpPr>
            <a:cxnSpLocks/>
          </p:cNvCxnSpPr>
          <p:nvPr/>
        </p:nvCxnSpPr>
        <p:spPr>
          <a:xfrm flipH="1">
            <a:off x="4872038" y="2359659"/>
            <a:ext cx="1858590" cy="616848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 2">
            <a:extLst>
              <a:ext uri="{FF2B5EF4-FFF2-40B4-BE49-F238E27FC236}">
                <a16:creationId xmlns:a16="http://schemas.microsoft.com/office/drawing/2014/main" id="{67FF26D9-7CC9-391E-9526-9513FC87BE91}"/>
              </a:ext>
            </a:extLst>
          </p:cNvPr>
          <p:cNvSpPr/>
          <p:nvPr/>
        </p:nvSpPr>
        <p:spPr>
          <a:xfrm>
            <a:off x="6447646" y="1432329"/>
            <a:ext cx="209550" cy="30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TX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8B6AC427-82FB-D299-EE38-654C862F6C26}"/>
              </a:ext>
            </a:extLst>
          </p:cNvPr>
          <p:cNvSpPr/>
          <p:nvPr/>
        </p:nvSpPr>
        <p:spPr>
          <a:xfrm>
            <a:off x="4949808" y="2240316"/>
            <a:ext cx="209550" cy="30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TX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7B6717D6-4FD5-40E7-FFFF-6D6F523584EC}"/>
              </a:ext>
            </a:extLst>
          </p:cNvPr>
          <p:cNvSpPr/>
          <p:nvPr/>
        </p:nvSpPr>
        <p:spPr>
          <a:xfrm>
            <a:off x="4949808" y="1927480"/>
            <a:ext cx="209550" cy="30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RX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EC5B4372-66A5-3315-A612-A2D1BDC989C4}"/>
              </a:ext>
            </a:extLst>
          </p:cNvPr>
          <p:cNvSpPr/>
          <p:nvPr/>
        </p:nvSpPr>
        <p:spPr>
          <a:xfrm>
            <a:off x="6447646" y="1773166"/>
            <a:ext cx="209550" cy="30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RX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ED2B6847-26C2-CA2F-DDC0-19703F9B88A0}"/>
              </a:ext>
            </a:extLst>
          </p:cNvPr>
          <p:cNvSpPr/>
          <p:nvPr/>
        </p:nvSpPr>
        <p:spPr>
          <a:xfrm>
            <a:off x="6375195" y="2095528"/>
            <a:ext cx="378792" cy="30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GND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663BFFD5-831A-CD23-EE3B-63A6A24D1EAD}"/>
              </a:ext>
            </a:extLst>
          </p:cNvPr>
          <p:cNvSpPr/>
          <p:nvPr/>
        </p:nvSpPr>
        <p:spPr>
          <a:xfrm>
            <a:off x="4909907" y="2570711"/>
            <a:ext cx="378792" cy="30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GND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ADD469BF-F589-B04F-62B8-DF49DE3F612E}"/>
              </a:ext>
            </a:extLst>
          </p:cNvPr>
          <p:cNvSpPr/>
          <p:nvPr/>
        </p:nvSpPr>
        <p:spPr>
          <a:xfrm>
            <a:off x="6838885" y="1211912"/>
            <a:ext cx="1313757" cy="30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Lichee Pi 4A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A7C967AA-0A78-EB02-F3E1-1FB9E74F59B1}"/>
              </a:ext>
            </a:extLst>
          </p:cNvPr>
          <p:cNvSpPr/>
          <p:nvPr/>
        </p:nvSpPr>
        <p:spPr>
          <a:xfrm>
            <a:off x="6838885" y="922997"/>
            <a:ext cx="1506094" cy="32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simon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6F4ACC-395B-740F-B329-E571C579D4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1000"/>
                    </a14:imgEffect>
                    <a14:imgEffect>
                      <a14:colorTemperature colorTemp="6800"/>
                    </a14:imgEffect>
                    <a14:imgEffect>
                      <a14:saturation sat="60000"/>
                    </a14:imgEffect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6601508" y="1187823"/>
            <a:ext cx="1882744" cy="1882744"/>
          </a:xfrm>
          <a:prstGeom prst="rect">
            <a:avLst/>
          </a:prstGeom>
        </p:spPr>
      </p:pic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231EF353-D21D-F4E1-A1AE-9ECDD1686CDE}"/>
              </a:ext>
            </a:extLst>
          </p:cNvPr>
          <p:cNvCxnSpPr>
            <a:cxnSpLocks/>
          </p:cNvCxnSpPr>
          <p:nvPr/>
        </p:nvCxnSpPr>
        <p:spPr>
          <a:xfrm flipH="1">
            <a:off x="4872038" y="2043632"/>
            <a:ext cx="1858590" cy="604637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15F0FD6D-0E2A-0065-8B5A-06535904A06D}"/>
              </a:ext>
            </a:extLst>
          </p:cNvPr>
          <p:cNvCxnSpPr>
            <a:cxnSpLocks/>
          </p:cNvCxnSpPr>
          <p:nvPr/>
        </p:nvCxnSpPr>
        <p:spPr>
          <a:xfrm flipH="1" flipV="1">
            <a:off x="1866696" y="1979930"/>
            <a:ext cx="2135224" cy="13735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C12CAC2F-30B1-4687-588E-3BAEDB363B1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7000"/>
                    </a14:imgEffect>
                    <a14:imgEffect>
                      <a14:colorTemperature colorTemp="5000"/>
                    </a14:imgEffect>
                    <a14:imgEffect>
                      <a14:saturation sat="80000"/>
                    </a14:imgEffect>
                    <a14:imgEffect>
                      <a14:brightnessContrast bright="-1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511" y="1286662"/>
            <a:ext cx="2220260" cy="1513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13558-61C7-45BD-47CC-ED48A607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FFCB15D-7820-4421-D301-E37DB89005AB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Почему </a:t>
            </a:r>
            <a:r>
              <a:rPr lang="en-US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RISC-V</a:t>
            </a:r>
            <a:endParaRPr lang="ru-RU" sz="3300" dirty="0">
              <a:solidFill>
                <a:srgbClr val="C9D1D9"/>
              </a:solidFill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C240B25D-C350-EC0B-E48F-93DA6C45CC8A}"/>
              </a:ext>
            </a:extLst>
          </p:cNvPr>
          <p:cNvSpPr/>
          <p:nvPr/>
        </p:nvSpPr>
        <p:spPr>
          <a:xfrm>
            <a:off x="628650" y="1698497"/>
            <a:ext cx="4752975" cy="2725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AutoNum type="arabicPeriod"/>
            </a:pP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RISC‑V — открытый стандарт ISA, в отличие от </a:t>
            </a:r>
            <a:r>
              <a:rPr lang="ru-RU" sz="135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x86/ARM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где спецификации и лицензии контролируются небольшим числом компаний.</a:t>
            </a:r>
            <a:endParaRPr lang="en-US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​Для задач доверия и верификации важно, чтобы и железо, и инструкция были максимально прозрачны; иначе в цепочке остаются скрытые части, которым нельзя полностью доверять.</a:t>
            </a:r>
            <a:endParaRPr lang="en-US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Открытость RISC‑V позволяет любому производителю </a:t>
            </a:r>
            <a:r>
              <a:rPr lang="ru-RU" sz="1350" dirty="0">
                <a:solidFill>
                  <a:srgbClr val="FF7B7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реализовать собственный процессор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на этой ISA и развернуть на нём нашу доверенную архитектуру, без лицензионных ограничений.</a:t>
            </a:r>
          </a:p>
          <a:p>
            <a:endParaRPr lang="ru-RU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9F07CC-C473-BBDF-958F-D75BA057D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788" y="1741359"/>
            <a:ext cx="2333624" cy="233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864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1ADB2E9-5100-EE59-FFED-18862D0A938E}"/>
              </a:ext>
            </a:extLst>
          </p:cNvPr>
          <p:cNvSpPr/>
          <p:nvPr/>
        </p:nvSpPr>
        <p:spPr>
          <a:xfrm>
            <a:off x="609600" y="2965252"/>
            <a:ext cx="3877817" cy="118229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0308ED0D-51E5-060C-C73B-3B8819851666}"/>
              </a:ext>
            </a:extLst>
          </p:cNvPr>
          <p:cNvSpPr/>
          <p:nvPr/>
        </p:nvSpPr>
        <p:spPr>
          <a:xfrm>
            <a:off x="4656585" y="2965252"/>
            <a:ext cx="3877817" cy="118229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4B18B8D-4820-0624-0E00-DE744E697A7F}"/>
              </a:ext>
            </a:extLst>
          </p:cNvPr>
          <p:cNvSpPr/>
          <p:nvPr/>
        </p:nvSpPr>
        <p:spPr>
          <a:xfrm>
            <a:off x="4648200" y="1478159"/>
            <a:ext cx="3877817" cy="118229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A6BF733-C563-059A-2051-CAC05979B597}"/>
              </a:ext>
            </a:extLst>
          </p:cNvPr>
          <p:cNvSpPr/>
          <p:nvPr/>
        </p:nvSpPr>
        <p:spPr>
          <a:xfrm>
            <a:off x="609601" y="1478160"/>
            <a:ext cx="3877817" cy="118229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7" name="Text 5"/>
          <p:cNvSpPr/>
          <p:nvPr/>
        </p:nvSpPr>
        <p:spPr>
          <a:xfrm>
            <a:off x="876300" y="1706761"/>
            <a:ext cx="345871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Bare-Metal</a:t>
            </a:r>
            <a:endParaRPr lang="en-US" sz="102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6300" y="1888034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 </a:t>
            </a:r>
            <a:r>
              <a:rPr lang="ru-RU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запуск ядра</a:t>
            </a:r>
            <a:endParaRPr lang="en-US" sz="102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14900" y="1706761"/>
            <a:ext cx="345871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Ядро</a:t>
            </a:r>
            <a:endParaRPr lang="en-US" sz="102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14900" y="1888034"/>
            <a:ext cx="3458718" cy="626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 compiler hex0-2, m0</a:t>
            </a:r>
          </a:p>
          <a:p>
            <a:pPr>
              <a:lnSpc>
                <a:spcPts val="1428"/>
              </a:lnSpc>
            </a:pP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 </a:t>
            </a:r>
            <a:r>
              <a:rPr lang="ru-RU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системные вызовы</a:t>
            </a:r>
          </a:p>
          <a:p>
            <a:pPr>
              <a:lnSpc>
                <a:spcPts val="1428"/>
              </a:lnSpc>
            </a:pP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</a:t>
            </a:r>
            <a:r>
              <a:rPr lang="ru-RU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команды </a:t>
            </a: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view, do, ls</a:t>
            </a:r>
            <a:endParaRPr lang="en-US" sz="102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6300" y="3193852"/>
            <a:ext cx="345871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Многозадачность</a:t>
            </a:r>
            <a:endParaRPr lang="en-US" sz="102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6300" y="3375124"/>
            <a:ext cx="3458718" cy="543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 scheduler</a:t>
            </a:r>
            <a:endParaRPr lang="en-US" sz="102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14900" y="3193852"/>
            <a:ext cx="3458718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 err="1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Воспроизводимость</a:t>
            </a:r>
            <a:r>
              <a:rPr lang="ru-RU" sz="1020" b="1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и верификация</a:t>
            </a:r>
            <a:endParaRPr lang="en-US" sz="102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14900" y="3375124"/>
            <a:ext cx="3458718" cy="543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 </a:t>
            </a:r>
            <a:r>
              <a:rPr lang="en-US" sz="1020" dirty="0" err="1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Makefile</a:t>
            </a:r>
            <a:endParaRPr lang="en-US" sz="1020" dirty="0">
              <a:solidFill>
                <a:srgbClr val="E0E0E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</a:t>
            </a:r>
            <a:r>
              <a:rPr lang="ru-RU" sz="102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Интеграционные тесты </a:t>
            </a:r>
            <a:r>
              <a:rPr lang="en-US" sz="1020" dirty="0" err="1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pexpect</a:t>
            </a:r>
            <a:endParaRPr lang="ru-RU" sz="1020" dirty="0">
              <a:solidFill>
                <a:srgbClr val="E0E0E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17FFAD3-9879-D3B5-FCAC-A18DF7E67727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Задачи реализованные за второй семестр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E4A5025-BC71-6870-BF9E-BB26A4F6FE03}"/>
              </a:ext>
            </a:extLst>
          </p:cNvPr>
          <p:cNvSpPr/>
          <p:nvPr/>
        </p:nvSpPr>
        <p:spPr>
          <a:xfrm>
            <a:off x="609600" y="2965252"/>
            <a:ext cx="3877817" cy="1492448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 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Проблема доверия — невозможно доверять </a:t>
            </a:r>
            <a:r>
              <a:rPr lang="ru-RU" sz="135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бинарнику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если неизвестно, что компилятор делает на самом деле</a:t>
            </a:r>
            <a:endParaRPr lang="en-US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4559A20-24ED-0CA4-CC74-F212AF6719E7}"/>
              </a:ext>
            </a:extLst>
          </p:cNvPr>
          <p:cNvSpPr/>
          <p:nvPr/>
        </p:nvSpPr>
        <p:spPr>
          <a:xfrm>
            <a:off x="4656583" y="2965252"/>
            <a:ext cx="3877817" cy="1492448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4. 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Собственный компилятор развернутый в нашей системе как доверенная среда — мы можем проверять потенциально зараженный компилятор и быть уверенными в доверенности сравниваемого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FD65AF8-6361-511C-DB1F-D401B2C2D7B7}"/>
              </a:ext>
            </a:extLst>
          </p:cNvPr>
          <p:cNvSpPr/>
          <p:nvPr/>
        </p:nvSpPr>
        <p:spPr>
          <a:xfrm>
            <a:off x="4648200" y="1478158"/>
            <a:ext cx="3877817" cy="1326001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 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Supply </a:t>
            </a:r>
            <a:r>
              <a:rPr lang="ru-RU" sz="135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chain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350" dirty="0" err="1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security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 — компилятор может внедрять уязвимости в код незаметно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DBDC73B-43DE-B5DC-5E03-7B41D64BAAFF}"/>
              </a:ext>
            </a:extLst>
          </p:cNvPr>
          <p:cNvSpPr/>
          <p:nvPr/>
        </p:nvSpPr>
        <p:spPr>
          <a:xfrm>
            <a:off x="609601" y="1478158"/>
            <a:ext cx="3877817" cy="1326002"/>
          </a:xfrm>
          <a:prstGeom prst="roundRect">
            <a:avLst>
              <a:gd name="adj" fmla="val 11250"/>
            </a:avLst>
          </a:prstGeom>
          <a:solidFill>
            <a:srgbClr val="1E242C"/>
          </a:solidFill>
          <a:ln>
            <a:noFill/>
          </a:ln>
          <a:effectLst>
            <a:outerShdw blurRad="127000" sx="72000" sy="7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 </a:t>
            </a:r>
            <a:r>
              <a:rPr lang="ru-RU" sz="1350" dirty="0">
                <a:solidFill>
                  <a:srgbClr val="E6EDF3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Верификация компиляторов C — проверка, заражены ли компиляторы вредоносным кодом</a:t>
            </a:r>
            <a:endParaRPr lang="en-US" sz="1350" dirty="0">
              <a:solidFill>
                <a:srgbClr val="E6EDF3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E0A4B34-65CB-CF69-A369-C2BC4E95B889}"/>
              </a:ext>
            </a:extLst>
          </p:cNvPr>
          <p:cNvSpPr txBox="1">
            <a:spLocks/>
          </p:cNvSpPr>
          <p:nvPr/>
        </p:nvSpPr>
        <p:spPr>
          <a:xfrm>
            <a:off x="544068" y="280269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Почему это важно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752749"/>
            <a:ext cx="79248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Мы построили </a:t>
            </a:r>
            <a:r>
              <a:rPr lang="en-US" sz="1350" b="1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верифицируемую цепочку загрузки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от </a:t>
            </a:r>
            <a:r>
              <a:rPr lang="en-US" sz="1350" dirty="0" err="1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запуска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системы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350" dirty="0" err="1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до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этапа 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stage-8. Каждый компонент: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529929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Читаем (люди могут </a:t>
            </a:r>
            <a:r>
              <a:rPr lang="en-US" sz="1350" dirty="0" err="1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проверить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hex-code)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Воспроизводим (идентичные сборки на разных системах)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Верифицируем (невозможна скрытая инъекция кода)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l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✓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Портативен (QEMU </a:t>
            </a:r>
            <a:r>
              <a:rPr lang="ru-RU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или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Lichee Pi 4A)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FD37D6B-7BCA-C939-9087-19C65B3AC5A5}"/>
              </a:ext>
            </a:extLst>
          </p:cNvPr>
          <p:cNvSpPr txBox="1">
            <a:spLocks/>
          </p:cNvSpPr>
          <p:nvPr/>
        </p:nvSpPr>
        <p:spPr>
          <a:xfrm>
            <a:off x="628650" y="54816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Итоги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CD8EC-CC8C-7A07-0740-4954B46C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DF062D6-8F38-D020-65FC-D5C35873F996}"/>
              </a:ext>
            </a:extLst>
          </p:cNvPr>
          <p:cNvSpPr txBox="1">
            <a:spLocks/>
          </p:cNvSpPr>
          <p:nvPr/>
        </p:nvSpPr>
        <p:spPr>
          <a:xfrm>
            <a:off x="628650" y="207466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5902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BA826-CCAD-902A-0BEB-2BE80A39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9705A8B-96A5-F7A1-26F4-02501BD51A45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300" dirty="0">
                <a:solidFill>
                  <a:srgbClr val="C9D1D9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Обработка ошибок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1C0B5E2-4237-3F71-341F-CC02602F41D8}"/>
              </a:ext>
            </a:extLst>
          </p:cNvPr>
          <p:cNvSpPr/>
          <p:nvPr/>
        </p:nvSpPr>
        <p:spPr>
          <a:xfrm>
            <a:off x="628650" y="2346198"/>
            <a:ext cx="7620000" cy="137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panic()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— </a:t>
            </a:r>
            <a:r>
              <a:rPr lang="ru-RU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обработчик ошибок ядра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reboot</a:t>
            </a:r>
            <a:endParaRPr lang="en-US" sz="1350" dirty="0">
              <a:solidFill>
                <a:srgbClr val="E0E0E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[BOOTED]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— </a:t>
            </a:r>
            <a:r>
              <a:rPr lang="en-US" sz="1350" dirty="0" err="1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логирование</a:t>
            </a:r>
            <a:r>
              <a:rPr lang="en-US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350" dirty="0">
                <a:solidFill>
                  <a:srgbClr val="E0E0E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запуска ядра</a:t>
            </a:r>
            <a:endParaRPr lang="en-US" sz="135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23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706</Words>
  <Application>Microsoft Office PowerPoint</Application>
  <PresentationFormat>Экран (16:9)</PresentationFormat>
  <Paragraphs>142</Paragraphs>
  <Slides>13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Inter Semi Bold</vt:lpstr>
      <vt:lpstr>JetBrains Mono</vt:lpstr>
      <vt:lpstr>Office Theme</vt:lpstr>
      <vt:lpstr>Создание доверенной среды на архитектуре RISC-V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Даниил Смолин</cp:lastModifiedBy>
  <cp:revision>48</cp:revision>
  <dcterms:created xsi:type="dcterms:W3CDTF">2025-12-16T16:39:17Z</dcterms:created>
  <dcterms:modified xsi:type="dcterms:W3CDTF">2026-05-22T16:20:20Z</dcterms:modified>
</cp:coreProperties>
</file>